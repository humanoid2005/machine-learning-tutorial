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8288000" cy="10287000"/>
  <p:notesSz cx="6858000" cy="9144000"/>
  <p:embeddedFontLst>
    <p:embeddedFont>
      <p:font typeface="Helvetica World" panose="020B0604020202020204" charset="-128"/>
      <p:regular r:id="rId17"/>
    </p:embeddedFont>
    <p:embeddedFont>
      <p:font typeface="Helvetica World Bold" panose="020B0604020202020204" charset="-128"/>
      <p:regular r:id="rId18"/>
    </p:embeddedFont>
    <p:embeddedFont>
      <p:font typeface="Canva Sans Bold" panose="020B0604020202020204" charset="0"/>
      <p:regular r:id="rId19"/>
    </p:embeddedFont>
    <p:embeddedFont>
      <p:font typeface="Clear Sans" panose="020B0604020202020204" charset="0"/>
      <p:regular r:id="rId20"/>
    </p:embeddedFont>
    <p:embeddedFont>
      <p:font typeface="Hammersmith One" panose="02010703030501060504" pitchFamily="2" charset="0"/>
      <p:regular r:id="rId21"/>
    </p:embeddedFont>
    <p:embeddedFont>
      <p:font typeface="Nunito" pitchFamily="2" charset="0"/>
      <p:regular r:id="rId22"/>
    </p:embeddedFont>
    <p:embeddedFont>
      <p:font typeface="Nunito Bold" panose="020B0604020202020204" charset="0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47" d="100"/>
          <a:sy n="47" d="100"/>
        </p:scale>
        <p:origin x="500" y="4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sv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statproofbook.github.io/P/ug-mle" TargetMode="Externa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0800000" flipH="1">
            <a:off x="13190572" y="0"/>
            <a:ext cx="2169693" cy="10287000"/>
          </a:xfrm>
          <a:custGeom>
            <a:avLst/>
            <a:gdLst/>
            <a:ahLst/>
            <a:cxnLst/>
            <a:rect l="l" t="t" r="r" b="b"/>
            <a:pathLst>
              <a:path w="2169693" h="10287000">
                <a:moveTo>
                  <a:pt x="2169692" y="0"/>
                </a:moveTo>
                <a:lnTo>
                  <a:pt x="0" y="0"/>
                </a:lnTo>
                <a:lnTo>
                  <a:pt x="0" y="10287000"/>
                </a:lnTo>
                <a:lnTo>
                  <a:pt x="2169692" y="10287000"/>
                </a:lnTo>
                <a:lnTo>
                  <a:pt x="2169692" y="0"/>
                </a:lnTo>
                <a:close/>
              </a:path>
            </a:pathLst>
          </a:custGeom>
          <a:blipFill>
            <a:blip r:embed="rId2">
              <a:alphaModFix amt="72000"/>
            </a:blip>
            <a:stretch>
              <a:fillRect l="-87062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-1054083" y="0"/>
            <a:ext cx="15329501" cy="10287000"/>
            <a:chOff x="0" y="0"/>
            <a:chExt cx="4037399" cy="270933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037399" cy="2709333"/>
            </a:xfrm>
            <a:custGeom>
              <a:avLst/>
              <a:gdLst/>
              <a:ahLst/>
              <a:cxnLst/>
              <a:rect l="l" t="t" r="r" b="b"/>
              <a:pathLst>
                <a:path w="4037399" h="2709333">
                  <a:moveTo>
                    <a:pt x="38888" y="0"/>
                  </a:moveTo>
                  <a:lnTo>
                    <a:pt x="3998512" y="0"/>
                  </a:lnTo>
                  <a:cubicBezTo>
                    <a:pt x="4019989" y="0"/>
                    <a:pt x="4037399" y="17411"/>
                    <a:pt x="4037399" y="38888"/>
                  </a:cubicBezTo>
                  <a:lnTo>
                    <a:pt x="4037399" y="2670446"/>
                  </a:lnTo>
                  <a:cubicBezTo>
                    <a:pt x="4037399" y="2680759"/>
                    <a:pt x="4033302" y="2690650"/>
                    <a:pt x="4026009" y="2697943"/>
                  </a:cubicBezTo>
                  <a:cubicBezTo>
                    <a:pt x="4018717" y="2705236"/>
                    <a:pt x="4008825" y="2709333"/>
                    <a:pt x="3998512" y="2709333"/>
                  </a:cubicBezTo>
                  <a:lnTo>
                    <a:pt x="38888" y="2709333"/>
                  </a:lnTo>
                  <a:cubicBezTo>
                    <a:pt x="17411" y="2709333"/>
                    <a:pt x="0" y="2691923"/>
                    <a:pt x="0" y="2670446"/>
                  </a:cubicBezTo>
                  <a:lnTo>
                    <a:pt x="0" y="38888"/>
                  </a:lnTo>
                  <a:cubicBezTo>
                    <a:pt x="0" y="28574"/>
                    <a:pt x="4097" y="18683"/>
                    <a:pt x="11390" y="11390"/>
                  </a:cubicBezTo>
                  <a:cubicBezTo>
                    <a:pt x="18683" y="4097"/>
                    <a:pt x="28574" y="0"/>
                    <a:pt x="38888" y="0"/>
                  </a:cubicBezTo>
                  <a:close/>
                </a:path>
              </a:pathLst>
            </a:custGeom>
            <a:solidFill>
              <a:srgbClr val="066CF4">
                <a:alpha val="85882"/>
              </a:srgbClr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28575"/>
              <a:ext cx="4037399" cy="27379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239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860518" y="4550242"/>
            <a:ext cx="12580081" cy="20687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928"/>
              </a:lnSpc>
            </a:pPr>
            <a:r>
              <a:rPr lang="en-US" sz="8056" b="1" spc="-660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PROBABILISTIC APPROACH TO MACHINE LEARNING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649645"/>
            <a:ext cx="11291116" cy="8324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189"/>
              </a:lnSpc>
            </a:pPr>
            <a:r>
              <a:rPr lang="en-US" sz="6328" b="1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What we have seen so far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1028700" y="2896842"/>
            <a:ext cx="16494717" cy="3738343"/>
            <a:chOff x="0" y="0"/>
            <a:chExt cx="21992956" cy="4984458"/>
          </a:xfrm>
        </p:grpSpPr>
        <p:sp>
          <p:nvSpPr>
            <p:cNvPr id="4" name="TextBox 4"/>
            <p:cNvSpPr txBox="1"/>
            <p:nvPr/>
          </p:nvSpPr>
          <p:spPr>
            <a:xfrm>
              <a:off x="0" y="0"/>
              <a:ext cx="21153153" cy="84782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904951" lvl="1" indent="-452476" algn="l">
                <a:lnSpc>
                  <a:spcPts val="5029"/>
                </a:lnSpc>
                <a:buFont typeface="Arial"/>
                <a:buChar char="•"/>
              </a:pPr>
              <a:r>
                <a:rPr lang="en-US" sz="4191">
                  <a:solidFill>
                    <a:srgbClr val="000000"/>
                  </a:solidFill>
                  <a:latin typeface="Clear Sans"/>
                  <a:ea typeface="Clear Sans"/>
                  <a:cs typeface="Clear Sans"/>
                  <a:sym typeface="Clear Sans"/>
                </a:rPr>
                <a:t>APPROACHING SUPERVISED LEARNING BY LINEAR MODELS 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1378877"/>
              <a:ext cx="21153153" cy="84782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904951" lvl="1" indent="-452476" algn="l">
                <a:lnSpc>
                  <a:spcPts val="5029"/>
                </a:lnSpc>
                <a:buFont typeface="Arial"/>
                <a:buChar char="•"/>
              </a:pPr>
              <a:r>
                <a:rPr lang="en-US" sz="4191">
                  <a:solidFill>
                    <a:srgbClr val="000000"/>
                  </a:solidFill>
                  <a:latin typeface="Clear Sans"/>
                  <a:ea typeface="Clear Sans"/>
                  <a:cs typeface="Clear Sans"/>
                  <a:sym typeface="Clear Sans"/>
                </a:rPr>
                <a:t>EQUATION SOLVING LINEAR ALGEBRA APPROACH TO ML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2757755"/>
              <a:ext cx="21992956" cy="84782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904951" lvl="1" indent="-452476" algn="l">
                <a:lnSpc>
                  <a:spcPts val="5029"/>
                </a:lnSpc>
                <a:buFont typeface="Arial"/>
                <a:buChar char="•"/>
              </a:pPr>
              <a:r>
                <a:rPr lang="en-US" sz="4191">
                  <a:solidFill>
                    <a:srgbClr val="000000"/>
                  </a:solidFill>
                  <a:latin typeface="Clear Sans"/>
                  <a:ea typeface="Clear Sans"/>
                  <a:cs typeface="Clear Sans"/>
                  <a:sym typeface="Clear Sans"/>
                </a:rPr>
                <a:t>BASICS OF PROBABILITY, RANDOM VARIABLES, EXPECTATION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4136632"/>
              <a:ext cx="21992956" cy="84782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904951" lvl="1" indent="-452476" algn="l">
                <a:lnSpc>
                  <a:spcPts val="5029"/>
                </a:lnSpc>
                <a:buFont typeface="Arial"/>
                <a:buChar char="•"/>
              </a:pPr>
              <a:r>
                <a:rPr lang="en-US" sz="4191">
                  <a:solidFill>
                    <a:srgbClr val="000000"/>
                  </a:solidFill>
                  <a:latin typeface="Clear Sans"/>
                  <a:ea typeface="Clear Sans"/>
                  <a:cs typeface="Clear Sans"/>
                  <a:sym typeface="Clear Sans"/>
                </a:rPr>
                <a:t>METRICS, BIAS AND VARIANCE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2294670" y="1596527"/>
            <a:ext cx="4018564" cy="4566550"/>
          </a:xfrm>
          <a:custGeom>
            <a:avLst/>
            <a:gdLst/>
            <a:ahLst/>
            <a:cxnLst/>
            <a:rect l="l" t="t" r="r" b="b"/>
            <a:pathLst>
              <a:path w="4018564" h="4566550">
                <a:moveTo>
                  <a:pt x="0" y="0"/>
                </a:moveTo>
                <a:lnTo>
                  <a:pt x="4018564" y="0"/>
                </a:lnTo>
                <a:lnTo>
                  <a:pt x="4018564" y="4566549"/>
                </a:lnTo>
                <a:lnTo>
                  <a:pt x="0" y="456654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2958426" y="2813360"/>
            <a:ext cx="3365510" cy="3163579"/>
          </a:xfrm>
          <a:custGeom>
            <a:avLst/>
            <a:gdLst/>
            <a:ahLst/>
            <a:cxnLst/>
            <a:rect l="l" t="t" r="r" b="b"/>
            <a:pathLst>
              <a:path w="3365510" h="3163579">
                <a:moveTo>
                  <a:pt x="0" y="0"/>
                </a:moveTo>
                <a:lnTo>
                  <a:pt x="3365510" y="0"/>
                </a:lnTo>
                <a:lnTo>
                  <a:pt x="3365510" y="3163580"/>
                </a:lnTo>
                <a:lnTo>
                  <a:pt x="0" y="316358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1531840" y="8327288"/>
            <a:ext cx="1525661" cy="1525661"/>
          </a:xfrm>
          <a:custGeom>
            <a:avLst/>
            <a:gdLst/>
            <a:ahLst/>
            <a:cxnLst/>
            <a:rect l="l" t="t" r="r" b="b"/>
            <a:pathLst>
              <a:path w="1525661" h="1525661">
                <a:moveTo>
                  <a:pt x="0" y="0"/>
                </a:moveTo>
                <a:lnTo>
                  <a:pt x="1525661" y="0"/>
                </a:lnTo>
                <a:lnTo>
                  <a:pt x="1525661" y="1525661"/>
                </a:lnTo>
                <a:lnTo>
                  <a:pt x="0" y="152566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4641181" y="477099"/>
            <a:ext cx="8669275" cy="9384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803"/>
              </a:lnSpc>
            </a:pPr>
            <a:r>
              <a:rPr lang="en-US" sz="7077" b="1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Likelihood: Intuition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843667" y="6355357"/>
            <a:ext cx="4920570" cy="1019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82"/>
              </a:lnSpc>
              <a:spcBef>
                <a:spcPct val="0"/>
              </a:spcBef>
            </a:pPr>
            <a:r>
              <a:rPr lang="en-US" sz="3402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Probability distribution with some parameters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180896" y="6355357"/>
            <a:ext cx="4920570" cy="1019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82"/>
              </a:lnSpc>
              <a:spcBef>
                <a:spcPct val="0"/>
              </a:spcBef>
            </a:pPr>
            <a:r>
              <a:rPr lang="en-US" sz="3402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Samples A,B,C,... we have with us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28700" y="8247156"/>
            <a:ext cx="10439660" cy="1685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42"/>
              </a:lnSpc>
              <a:spcBef>
                <a:spcPct val="0"/>
              </a:spcBef>
            </a:pPr>
            <a:r>
              <a:rPr lang="en-US" sz="3702">
                <a:solidFill>
                  <a:srgbClr val="000000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What is the probability that the sample A came from the probability distribution we thought of ?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2809585"/>
            <a:ext cx="18288000" cy="3746581"/>
          </a:xfrm>
          <a:custGeom>
            <a:avLst/>
            <a:gdLst/>
            <a:ahLst/>
            <a:cxnLst/>
            <a:rect l="l" t="t" r="r" b="b"/>
            <a:pathLst>
              <a:path w="18288000" h="3746581">
                <a:moveTo>
                  <a:pt x="0" y="0"/>
                </a:moveTo>
                <a:lnTo>
                  <a:pt x="18288000" y="0"/>
                </a:lnTo>
                <a:lnTo>
                  <a:pt x="18288000" y="3746581"/>
                </a:lnTo>
                <a:lnTo>
                  <a:pt x="0" y="374658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4641181" y="477099"/>
            <a:ext cx="8949578" cy="9384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803"/>
              </a:lnSpc>
            </a:pPr>
            <a:r>
              <a:rPr lang="en-US" sz="7077" b="1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Likelihood: The Math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00335" y="7219779"/>
            <a:ext cx="17231270" cy="1393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The likelihood function measures how plausible a specific parameter value is, given a set of observed data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9139238" y="4404707"/>
            <a:ext cx="9525" cy="12299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908"/>
              </a:lnSpc>
              <a:spcBef>
                <a:spcPct val="0"/>
              </a:spcBef>
            </a:pP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575838" y="3842447"/>
            <a:ext cx="8239977" cy="6199356"/>
          </a:xfrm>
          <a:custGeom>
            <a:avLst/>
            <a:gdLst/>
            <a:ahLst/>
            <a:cxnLst/>
            <a:rect l="l" t="t" r="r" b="b"/>
            <a:pathLst>
              <a:path w="8239977" h="6199356">
                <a:moveTo>
                  <a:pt x="0" y="0"/>
                </a:moveTo>
                <a:lnTo>
                  <a:pt x="8239977" y="0"/>
                </a:lnTo>
                <a:lnTo>
                  <a:pt x="8239977" y="6199356"/>
                </a:lnTo>
                <a:lnTo>
                  <a:pt x="0" y="619935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474725" y="419257"/>
            <a:ext cx="17813275" cy="9384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803"/>
              </a:lnSpc>
            </a:pPr>
            <a:r>
              <a:rPr lang="en-US" sz="7077" b="1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Maximum Likelihood Estimate: Intuition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233594" y="8293798"/>
            <a:ext cx="2924464" cy="7682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65"/>
              </a:lnSpc>
              <a:spcBef>
                <a:spcPct val="0"/>
              </a:spcBef>
            </a:pPr>
            <a:r>
              <a:rPr lang="en-US" sz="2554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SET OF SAMPLES WE HAVE WITH US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7321280" y="2344338"/>
            <a:ext cx="9705674" cy="3695897"/>
            <a:chOff x="0" y="0"/>
            <a:chExt cx="12940899" cy="4927862"/>
          </a:xfrm>
        </p:grpSpPr>
        <p:grpSp>
          <p:nvGrpSpPr>
            <p:cNvPr id="6" name="Group 6"/>
            <p:cNvGrpSpPr/>
            <p:nvPr/>
          </p:nvGrpSpPr>
          <p:grpSpPr>
            <a:xfrm>
              <a:off x="0" y="0"/>
              <a:ext cx="12940899" cy="4927862"/>
              <a:chOff x="0" y="0"/>
              <a:chExt cx="1329213" cy="506161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1326751" cy="506161"/>
              </a:xfrm>
              <a:custGeom>
                <a:avLst/>
                <a:gdLst/>
                <a:ahLst/>
                <a:cxnLst/>
                <a:rect l="l" t="t" r="r" b="b"/>
                <a:pathLst>
                  <a:path w="1326751" h="506161">
                    <a:moveTo>
                      <a:pt x="720296" y="0"/>
                    </a:moveTo>
                    <a:cubicBezTo>
                      <a:pt x="809988" y="0"/>
                      <a:pt x="875852" y="29329"/>
                      <a:pt x="920892" y="63236"/>
                    </a:cubicBezTo>
                    <a:cubicBezTo>
                      <a:pt x="1002621" y="52789"/>
                      <a:pt x="1071174" y="56399"/>
                      <a:pt x="1126237" y="82389"/>
                    </a:cubicBezTo>
                    <a:cubicBezTo>
                      <a:pt x="1171302" y="103663"/>
                      <a:pt x="1191146" y="133983"/>
                      <a:pt x="1186156" y="164734"/>
                    </a:cubicBezTo>
                    <a:cubicBezTo>
                      <a:pt x="1288741" y="192676"/>
                      <a:pt x="1339702" y="244957"/>
                      <a:pt x="1323930" y="295157"/>
                    </a:cubicBezTo>
                    <a:cubicBezTo>
                      <a:pt x="1297287" y="351134"/>
                      <a:pt x="1163967" y="387114"/>
                      <a:pt x="1043427" y="378075"/>
                    </a:cubicBezTo>
                    <a:cubicBezTo>
                      <a:pt x="1009003" y="411324"/>
                      <a:pt x="947023" y="437445"/>
                      <a:pt x="868447" y="447313"/>
                    </a:cubicBezTo>
                    <a:cubicBezTo>
                      <a:pt x="763637" y="460472"/>
                      <a:pt x="658490" y="441093"/>
                      <a:pt x="595981" y="402040"/>
                    </a:cubicBezTo>
                    <a:lnTo>
                      <a:pt x="253537" y="506161"/>
                    </a:lnTo>
                    <a:cubicBezTo>
                      <a:pt x="305757" y="475133"/>
                      <a:pt x="357254" y="447313"/>
                      <a:pt x="372718" y="399130"/>
                    </a:cubicBezTo>
                    <a:cubicBezTo>
                      <a:pt x="329647" y="405430"/>
                      <a:pt x="279709" y="403671"/>
                      <a:pt x="233324" y="392337"/>
                    </a:cubicBezTo>
                    <a:cubicBezTo>
                      <a:pt x="151618" y="372371"/>
                      <a:pt x="115249" y="328460"/>
                      <a:pt x="127197" y="291366"/>
                    </a:cubicBezTo>
                    <a:cubicBezTo>
                      <a:pt x="80676" y="275672"/>
                      <a:pt x="0" y="253026"/>
                      <a:pt x="0" y="199423"/>
                    </a:cubicBezTo>
                    <a:cubicBezTo>
                      <a:pt x="0" y="149721"/>
                      <a:pt x="105641" y="111566"/>
                      <a:pt x="204827" y="112576"/>
                    </a:cubicBezTo>
                    <a:cubicBezTo>
                      <a:pt x="215558" y="92214"/>
                      <a:pt x="238679" y="73483"/>
                      <a:pt x="273500" y="59581"/>
                    </a:cubicBezTo>
                    <a:cubicBezTo>
                      <a:pt x="347359" y="30100"/>
                      <a:pt x="460975" y="35193"/>
                      <a:pt x="522040" y="60715"/>
                    </a:cubicBezTo>
                    <a:cubicBezTo>
                      <a:pt x="564695" y="23463"/>
                      <a:pt x="632635" y="0"/>
                      <a:pt x="72029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247819" y="74774"/>
                <a:ext cx="856103" cy="29909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41"/>
                  </a:lnSpc>
                </a:pPr>
                <a:endParaRPr/>
              </a:p>
            </p:txBody>
          </p:sp>
        </p:grpSp>
        <p:sp>
          <p:nvSpPr>
            <p:cNvPr id="9" name="TextBox 9"/>
            <p:cNvSpPr txBox="1"/>
            <p:nvPr/>
          </p:nvSpPr>
          <p:spPr>
            <a:xfrm>
              <a:off x="1093405" y="1682287"/>
              <a:ext cx="10529848" cy="153744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18"/>
                </a:lnSpc>
                <a:spcBef>
                  <a:spcPct val="0"/>
                </a:spcBef>
              </a:pPr>
              <a:r>
                <a:rPr lang="en-US" sz="2598">
                  <a:solidFill>
                    <a:srgbClr val="000000"/>
                  </a:solidFill>
                  <a:latin typeface="Hammersmith One"/>
                  <a:ea typeface="Hammersmith One"/>
                  <a:cs typeface="Hammersmith One"/>
                  <a:sym typeface="Hammersmith One"/>
                </a:rPr>
                <a:t>Assuming the samples came from a distribution X, then what would have been the parameters of that distribution to give these samples ?</a:t>
              </a:r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11184395" y="6922198"/>
            <a:ext cx="5842560" cy="2657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As the name suggests we try to find the parameters that maximise the likelihood of the samples for the parameters, as computed in the previous slides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48303" y="1589895"/>
            <a:ext cx="15591394" cy="8697105"/>
          </a:xfrm>
          <a:custGeom>
            <a:avLst/>
            <a:gdLst/>
            <a:ahLst/>
            <a:cxnLst/>
            <a:rect l="l" t="t" r="r" b="b"/>
            <a:pathLst>
              <a:path w="15591394" h="8697105">
                <a:moveTo>
                  <a:pt x="0" y="0"/>
                </a:moveTo>
                <a:lnTo>
                  <a:pt x="15591394" y="0"/>
                </a:lnTo>
                <a:lnTo>
                  <a:pt x="15591394" y="8697105"/>
                </a:lnTo>
                <a:lnTo>
                  <a:pt x="0" y="869710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937840" y="409732"/>
            <a:ext cx="16412319" cy="8554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346"/>
              </a:lnSpc>
            </a:pPr>
            <a:r>
              <a:rPr lang="en-US" sz="6520" b="1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Maximum Likelihood Estimate: The Math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562835" y="493823"/>
            <a:ext cx="7162330" cy="8554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346"/>
              </a:lnSpc>
            </a:pPr>
            <a:r>
              <a:rPr lang="en-US" sz="6520" b="1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Example Problem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686742" y="1735371"/>
            <a:ext cx="16914517" cy="161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81"/>
              </a:lnSpc>
              <a:spcBef>
                <a:spcPct val="0"/>
              </a:spcBef>
            </a:pPr>
            <a:r>
              <a:rPr lang="en-US" sz="3567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A coin is tossed 5 times and the outcomes observed are H, T, H, H and T. We do not know if the coin is biased or not. Assuming probability of head being </a:t>
            </a:r>
            <a:r>
              <a:rPr lang="en-US" sz="3567" b="1">
                <a:solidFill>
                  <a:srgbClr val="000000"/>
                </a:solidFill>
                <a:latin typeface="Nunito Bold"/>
                <a:ea typeface="Nunito Bold"/>
                <a:cs typeface="Nunito Bold"/>
                <a:sym typeface="Nunito Bold"/>
              </a:rPr>
              <a:t>p</a:t>
            </a:r>
            <a:r>
              <a:rPr lang="en-US" sz="3567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, using the method of maximum likelihood estimation, estimate the value of p.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562835" y="493823"/>
            <a:ext cx="7162330" cy="8554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346"/>
              </a:lnSpc>
            </a:pPr>
            <a:r>
              <a:rPr lang="en-US" sz="6520" b="1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Example Problem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686742" y="1735371"/>
            <a:ext cx="16914517" cy="161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81"/>
              </a:lnSpc>
              <a:spcBef>
                <a:spcPct val="0"/>
              </a:spcBef>
            </a:pPr>
            <a:r>
              <a:rPr lang="en-US" sz="3567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A coin is tossed 5 times and the outcomes observed are H, T, H, H and T. We do not know if the coin is biased or not. Assuming probability of head being </a:t>
            </a:r>
            <a:r>
              <a:rPr lang="en-US" sz="3567" b="1">
                <a:solidFill>
                  <a:srgbClr val="000000"/>
                </a:solidFill>
                <a:latin typeface="Nunito Bold"/>
                <a:ea typeface="Nunito Bold"/>
                <a:cs typeface="Nunito Bold"/>
                <a:sym typeface="Nunito Bold"/>
              </a:rPr>
              <a:t>p</a:t>
            </a:r>
            <a:r>
              <a:rPr lang="en-US" sz="3567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, using the method of maximum likelihood estimation, estimate the value of p.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2919895" y="4637570"/>
            <a:ext cx="12448211" cy="5188370"/>
            <a:chOff x="0" y="0"/>
            <a:chExt cx="16597614" cy="6917827"/>
          </a:xfrm>
        </p:grpSpPr>
        <p:grpSp>
          <p:nvGrpSpPr>
            <p:cNvPr id="5" name="Group 5"/>
            <p:cNvGrpSpPr/>
            <p:nvPr/>
          </p:nvGrpSpPr>
          <p:grpSpPr>
            <a:xfrm>
              <a:off x="0" y="0"/>
              <a:ext cx="16597614" cy="6917827"/>
              <a:chOff x="0" y="0"/>
              <a:chExt cx="3278541" cy="1366484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3278541" cy="1366484"/>
              </a:xfrm>
              <a:custGeom>
                <a:avLst/>
                <a:gdLst/>
                <a:ahLst/>
                <a:cxnLst/>
                <a:rect l="l" t="t" r="r" b="b"/>
                <a:pathLst>
                  <a:path w="3278541" h="1366484">
                    <a:moveTo>
                      <a:pt x="31718" y="0"/>
                    </a:moveTo>
                    <a:lnTo>
                      <a:pt x="3246823" y="0"/>
                    </a:lnTo>
                    <a:cubicBezTo>
                      <a:pt x="3264340" y="0"/>
                      <a:pt x="3278541" y="14201"/>
                      <a:pt x="3278541" y="31718"/>
                    </a:cubicBezTo>
                    <a:lnTo>
                      <a:pt x="3278541" y="1334766"/>
                    </a:lnTo>
                    <a:cubicBezTo>
                      <a:pt x="3278541" y="1343178"/>
                      <a:pt x="3275199" y="1351246"/>
                      <a:pt x="3269251" y="1357194"/>
                    </a:cubicBezTo>
                    <a:cubicBezTo>
                      <a:pt x="3263302" y="1363143"/>
                      <a:pt x="3255235" y="1366484"/>
                      <a:pt x="3246823" y="1366484"/>
                    </a:cubicBezTo>
                    <a:lnTo>
                      <a:pt x="31718" y="1366484"/>
                    </a:lnTo>
                    <a:cubicBezTo>
                      <a:pt x="14201" y="1366484"/>
                      <a:pt x="0" y="1352284"/>
                      <a:pt x="0" y="1334766"/>
                    </a:cubicBezTo>
                    <a:lnTo>
                      <a:pt x="0" y="31718"/>
                    </a:lnTo>
                    <a:cubicBezTo>
                      <a:pt x="0" y="14201"/>
                      <a:pt x="14201" y="0"/>
                      <a:pt x="31718" y="0"/>
                    </a:cubicBezTo>
                    <a:close/>
                  </a:path>
                </a:pathLst>
              </a:custGeom>
              <a:solidFill>
                <a:srgbClr val="599DF7"/>
              </a:solidFill>
            </p:spPr>
          </p:sp>
          <p:sp>
            <p:nvSpPr>
              <p:cNvPr id="7" name="TextBox 7"/>
              <p:cNvSpPr txBox="1"/>
              <p:nvPr/>
            </p:nvSpPr>
            <p:spPr>
              <a:xfrm>
                <a:off x="0" y="-38100"/>
                <a:ext cx="3278541" cy="140458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8" name="TextBox 8"/>
            <p:cNvSpPr txBox="1"/>
            <p:nvPr/>
          </p:nvSpPr>
          <p:spPr>
            <a:xfrm>
              <a:off x="0" y="345866"/>
              <a:ext cx="16273908" cy="566525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599"/>
                </a:lnSpc>
              </a:pPr>
              <a:r>
                <a:rPr lang="en-US" sz="3999" b="1">
                  <a:solidFill>
                    <a:srgbClr val="FFFFFF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TRY OUT</a:t>
              </a:r>
            </a:p>
            <a:p>
              <a:pPr algn="ctr">
                <a:lnSpc>
                  <a:spcPts val="5599"/>
                </a:lnSpc>
              </a:pPr>
              <a:r>
                <a:rPr lang="en-US" sz="3999">
                  <a:solidFill>
                    <a:srgbClr val="FFFFFF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What would the estimate look like for another problem but with samples from Normal Distribution ?</a:t>
              </a:r>
            </a:p>
            <a:p>
              <a:pPr algn="ctr">
                <a:lnSpc>
                  <a:spcPts val="5599"/>
                </a:lnSpc>
              </a:pPr>
              <a:endParaRPr lang="en-US" sz="3999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endParaRPr>
            </a:p>
            <a:p>
              <a:pPr algn="ctr">
                <a:lnSpc>
                  <a:spcPts val="5599"/>
                </a:lnSpc>
              </a:pPr>
              <a:r>
                <a:rPr lang="en-US" sz="3999">
                  <a:solidFill>
                    <a:srgbClr val="FFFFFF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Here is the solution for univariate Gaussian distribution</a:t>
              </a:r>
            </a:p>
            <a:p>
              <a:pPr algn="ctr">
                <a:lnSpc>
                  <a:spcPts val="5599"/>
                </a:lnSpc>
                <a:spcBef>
                  <a:spcPct val="0"/>
                </a:spcBef>
              </a:pPr>
              <a:r>
                <a:rPr lang="en-US" sz="3999" u="sng">
                  <a:solidFill>
                    <a:srgbClr val="FFFFFF"/>
                  </a:solidFill>
                  <a:latin typeface="Helvetica World"/>
                  <a:ea typeface="Helvetica World"/>
                  <a:cs typeface="Helvetica World"/>
                  <a:sym typeface="Helvetica World"/>
                  <a:hlinkClick r:id="rId2" tooltip="https://statproofbook.github.io/P/ug-mle"/>
                </a:rPr>
                <a:t>https://statproofbook.github.io/P/ug-mle 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719460" y="2067066"/>
            <a:ext cx="12370098" cy="4695295"/>
          </a:xfrm>
          <a:custGeom>
            <a:avLst/>
            <a:gdLst/>
            <a:ahLst/>
            <a:cxnLst/>
            <a:rect l="l" t="t" r="r" b="b"/>
            <a:pathLst>
              <a:path w="12370098" h="4695295">
                <a:moveTo>
                  <a:pt x="0" y="0"/>
                </a:moveTo>
                <a:lnTo>
                  <a:pt x="12370098" y="0"/>
                </a:lnTo>
                <a:lnTo>
                  <a:pt x="12370098" y="4695294"/>
                </a:lnTo>
                <a:lnTo>
                  <a:pt x="0" y="469529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945641" y="7476735"/>
            <a:ext cx="11917736" cy="1491185"/>
          </a:xfrm>
          <a:custGeom>
            <a:avLst/>
            <a:gdLst/>
            <a:ahLst/>
            <a:cxnLst/>
            <a:rect l="l" t="t" r="r" b="b"/>
            <a:pathLst>
              <a:path w="11917736" h="1491185">
                <a:moveTo>
                  <a:pt x="0" y="0"/>
                </a:moveTo>
                <a:lnTo>
                  <a:pt x="11917736" y="0"/>
                </a:lnTo>
                <a:lnTo>
                  <a:pt x="11917736" y="1491185"/>
                </a:lnTo>
                <a:lnTo>
                  <a:pt x="0" y="14911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5198442" y="493823"/>
            <a:ext cx="7891117" cy="8554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346"/>
              </a:lnSpc>
            </a:pPr>
            <a:r>
              <a:rPr lang="en-US" sz="6520" b="1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Application of MLE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642762" y="437763"/>
            <a:ext cx="11002477" cy="8554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346"/>
              </a:lnSpc>
            </a:pPr>
            <a:r>
              <a:rPr lang="en-US" sz="6520" b="1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Mean and Covariance of w*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50253" y="4169514"/>
            <a:ext cx="7303493" cy="2149606"/>
            <a:chOff x="0" y="0"/>
            <a:chExt cx="9737990" cy="2866141"/>
          </a:xfrm>
        </p:grpSpPr>
        <p:sp>
          <p:nvSpPr>
            <p:cNvPr id="4" name="Freeform 4"/>
            <p:cNvSpPr/>
            <p:nvPr/>
          </p:nvSpPr>
          <p:spPr>
            <a:xfrm>
              <a:off x="3984961" y="0"/>
              <a:ext cx="4868995" cy="1363319"/>
            </a:xfrm>
            <a:custGeom>
              <a:avLst/>
              <a:gdLst/>
              <a:ahLst/>
              <a:cxnLst/>
              <a:rect l="l" t="t" r="r" b="b"/>
              <a:pathLst>
                <a:path w="4868995" h="1363319">
                  <a:moveTo>
                    <a:pt x="0" y="0"/>
                  </a:moveTo>
                  <a:lnTo>
                    <a:pt x="4868995" y="0"/>
                  </a:lnTo>
                  <a:lnTo>
                    <a:pt x="4868995" y="1363319"/>
                  </a:lnTo>
                  <a:lnTo>
                    <a:pt x="0" y="13633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  <p:sp>
          <p:nvSpPr>
            <p:cNvPr id="5" name="TextBox 5"/>
            <p:cNvSpPr txBox="1"/>
            <p:nvPr/>
          </p:nvSpPr>
          <p:spPr>
            <a:xfrm>
              <a:off x="0" y="1899883"/>
              <a:ext cx="9737990" cy="96625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599"/>
                </a:lnSpc>
                <a:spcBef>
                  <a:spcPct val="0"/>
                </a:spcBef>
              </a:pPr>
              <a:r>
                <a:rPr lang="en-US" sz="3999">
                  <a:solidFill>
                    <a:srgbClr val="00000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w* is an unbiased estimator of w</a:t>
              </a:r>
              <a:r>
                <a:rPr lang="en-US" sz="3999" b="1">
                  <a:solidFill>
                    <a:srgbClr val="000000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 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9834564" y="4169514"/>
            <a:ext cx="7671197" cy="2753277"/>
            <a:chOff x="0" y="0"/>
            <a:chExt cx="10228262" cy="3671036"/>
          </a:xfrm>
        </p:grpSpPr>
        <p:sp>
          <p:nvSpPr>
            <p:cNvPr id="7" name="Freeform 7"/>
            <p:cNvSpPr/>
            <p:nvPr/>
          </p:nvSpPr>
          <p:spPr>
            <a:xfrm>
              <a:off x="1179251" y="0"/>
              <a:ext cx="7869761" cy="1304613"/>
            </a:xfrm>
            <a:custGeom>
              <a:avLst/>
              <a:gdLst/>
              <a:ahLst/>
              <a:cxnLst/>
              <a:rect l="l" t="t" r="r" b="b"/>
              <a:pathLst>
                <a:path w="7869761" h="1304613">
                  <a:moveTo>
                    <a:pt x="0" y="0"/>
                  </a:moveTo>
                  <a:lnTo>
                    <a:pt x="7869761" y="0"/>
                  </a:lnTo>
                  <a:lnTo>
                    <a:pt x="7869761" y="1304613"/>
                  </a:lnTo>
                  <a:lnTo>
                    <a:pt x="0" y="13046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  <p:sp>
          <p:nvSpPr>
            <p:cNvPr id="8" name="TextBox 8"/>
            <p:cNvSpPr txBox="1"/>
            <p:nvPr/>
          </p:nvSpPr>
          <p:spPr>
            <a:xfrm>
              <a:off x="0" y="1841177"/>
              <a:ext cx="10228262" cy="182985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599"/>
                </a:lnSpc>
              </a:pPr>
              <a:r>
                <a:rPr lang="en-US" sz="3999">
                  <a:solidFill>
                    <a:srgbClr val="00000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Since  cov(A,B) = cov(B,A) </a:t>
              </a:r>
            </a:p>
            <a:p>
              <a:pPr algn="ctr">
                <a:lnSpc>
                  <a:spcPts val="5599"/>
                </a:lnSpc>
                <a:spcBef>
                  <a:spcPct val="0"/>
                </a:spcBef>
              </a:pPr>
              <a:r>
                <a:rPr lang="en-US" sz="3999">
                  <a:solidFill>
                    <a:srgbClr val="00000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the covariance matrix is symmetric</a:t>
              </a:r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177271" y="8518525"/>
            <a:ext cx="15933457" cy="1393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Try to derive these expressions using the concepts taught previously in the tutorial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184427" y="465793"/>
            <a:ext cx="7919147" cy="8554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346"/>
              </a:lnSpc>
            </a:pPr>
            <a:r>
              <a:rPr lang="en-US" sz="6520" b="1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Problems with MLE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616353" y="3260725"/>
            <a:ext cx="17671647" cy="3679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63599" lvl="1" indent="-431800" algn="l">
              <a:lnSpc>
                <a:spcPts val="5599"/>
              </a:lnSpc>
              <a:buFont typeface="Arial"/>
              <a:buChar char="•"/>
            </a:pPr>
            <a:r>
              <a:rPr lang="en-US" sz="3999" b="1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Ignores Prior Knowledge:</a:t>
            </a:r>
            <a:r>
              <a:rPr lang="en-US" sz="3999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MLE only looks at current data and cannot integrate historical context, known physics, or expert beliefs.</a:t>
            </a:r>
          </a:p>
          <a:p>
            <a:pPr marL="863599" lvl="1" indent="-431800" algn="l">
              <a:lnSpc>
                <a:spcPts val="5599"/>
              </a:lnSpc>
              <a:buFont typeface="Arial"/>
              <a:buChar char="•"/>
            </a:pPr>
            <a:r>
              <a:rPr lang="en-US" sz="3999" b="1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Overfits on Small Data:</a:t>
            </a:r>
            <a:r>
              <a:rPr lang="en-US" sz="3999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3 heads in 3 flips makes MLE conclude tails is impossible (p=1) </a:t>
            </a:r>
          </a:p>
          <a:p>
            <a:pPr marL="863599" lvl="1" indent="-431800" algn="l">
              <a:lnSpc>
                <a:spcPts val="5599"/>
              </a:lnSpc>
              <a:spcBef>
                <a:spcPct val="0"/>
              </a:spcBef>
              <a:buFont typeface="Arial"/>
              <a:buChar char="•"/>
            </a:pPr>
            <a:r>
              <a:rPr lang="en-US" sz="3999" b="1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MLE only provides point estimation of sample data.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11781" y="2208576"/>
            <a:ext cx="11815097" cy="5117350"/>
            <a:chOff x="0" y="0"/>
            <a:chExt cx="15753462" cy="68231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243416" cy="3456119"/>
            </a:xfrm>
            <a:custGeom>
              <a:avLst/>
              <a:gdLst/>
              <a:ahLst/>
              <a:cxnLst/>
              <a:rect l="l" t="t" r="r" b="b"/>
              <a:pathLst>
                <a:path w="8243416" h="3456119">
                  <a:moveTo>
                    <a:pt x="0" y="0"/>
                  </a:moveTo>
                  <a:lnTo>
                    <a:pt x="8243416" y="0"/>
                  </a:lnTo>
                  <a:lnTo>
                    <a:pt x="8243416" y="3456119"/>
                  </a:lnTo>
                  <a:lnTo>
                    <a:pt x="0" y="34561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390" b="-390"/>
              </a:stretch>
            </a:blip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4" name="Freeform 4"/>
            <p:cNvSpPr/>
            <p:nvPr/>
          </p:nvSpPr>
          <p:spPr>
            <a:xfrm>
              <a:off x="12332708" y="35364"/>
              <a:ext cx="3420754" cy="3420754"/>
            </a:xfrm>
            <a:custGeom>
              <a:avLst/>
              <a:gdLst/>
              <a:ahLst/>
              <a:cxnLst/>
              <a:rect l="l" t="t" r="r" b="b"/>
              <a:pathLst>
                <a:path w="3420754" h="3420754">
                  <a:moveTo>
                    <a:pt x="0" y="0"/>
                  </a:moveTo>
                  <a:lnTo>
                    <a:pt x="3420754" y="0"/>
                  </a:lnTo>
                  <a:lnTo>
                    <a:pt x="3420754" y="3420755"/>
                  </a:lnTo>
                  <a:lnTo>
                    <a:pt x="0" y="34207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  <a:ln w="38100" cap="sq">
              <a:solidFill>
                <a:srgbClr val="000000"/>
              </a:solidFill>
              <a:prstDash val="solid"/>
              <a:miter/>
            </a:ln>
          </p:spPr>
        </p:sp>
        <p:grpSp>
          <p:nvGrpSpPr>
            <p:cNvPr id="5" name="Group 5"/>
            <p:cNvGrpSpPr/>
            <p:nvPr/>
          </p:nvGrpSpPr>
          <p:grpSpPr>
            <a:xfrm>
              <a:off x="8659807" y="1270008"/>
              <a:ext cx="3256510" cy="1669853"/>
              <a:chOff x="0" y="0"/>
              <a:chExt cx="1372352" cy="703706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1372352" cy="703706"/>
              </a:xfrm>
              <a:custGeom>
                <a:avLst/>
                <a:gdLst/>
                <a:ahLst/>
                <a:cxnLst/>
                <a:rect l="l" t="t" r="r" b="b"/>
                <a:pathLst>
                  <a:path w="1372352" h="703706">
                    <a:moveTo>
                      <a:pt x="1372352" y="351853"/>
                    </a:moveTo>
                    <a:lnTo>
                      <a:pt x="965952" y="0"/>
                    </a:lnTo>
                    <a:lnTo>
                      <a:pt x="965952" y="203200"/>
                    </a:lnTo>
                    <a:lnTo>
                      <a:pt x="0" y="203200"/>
                    </a:lnTo>
                    <a:lnTo>
                      <a:pt x="0" y="500506"/>
                    </a:lnTo>
                    <a:lnTo>
                      <a:pt x="965952" y="500506"/>
                    </a:lnTo>
                    <a:lnTo>
                      <a:pt x="965952" y="703706"/>
                    </a:lnTo>
                    <a:lnTo>
                      <a:pt x="1372352" y="351853"/>
                    </a:lnTo>
                    <a:close/>
                  </a:path>
                </a:pathLst>
              </a:custGeom>
              <a:solidFill>
                <a:srgbClr val="599DF7"/>
              </a:solidFill>
            </p:spPr>
          </p:sp>
          <p:sp>
            <p:nvSpPr>
              <p:cNvPr id="7" name="TextBox 7"/>
              <p:cNvSpPr txBox="1"/>
              <p:nvPr/>
            </p:nvSpPr>
            <p:spPr>
              <a:xfrm>
                <a:off x="0" y="165100"/>
                <a:ext cx="1270752" cy="33540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8" name="Group 8"/>
            <p:cNvGrpSpPr/>
            <p:nvPr/>
          </p:nvGrpSpPr>
          <p:grpSpPr>
            <a:xfrm rot="-10800000">
              <a:off x="12164820" y="4944867"/>
              <a:ext cx="1878266" cy="1878266"/>
              <a:chOff x="0" y="0"/>
              <a:chExt cx="558800" cy="558800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558800" cy="558800"/>
              </a:xfrm>
              <a:custGeom>
                <a:avLst/>
                <a:gdLst/>
                <a:ahLst/>
                <a:cxnLst/>
                <a:rect l="l" t="t" r="r" b="b"/>
                <a:pathLst>
                  <a:path w="558800" h="558800">
                    <a:moveTo>
                      <a:pt x="0" y="558800"/>
                    </a:moveTo>
                    <a:cubicBezTo>
                      <a:pt x="0" y="411634"/>
                      <a:pt x="59606" y="267731"/>
                      <a:pt x="163669" y="163669"/>
                    </a:cubicBezTo>
                    <a:cubicBezTo>
                      <a:pt x="267731" y="59606"/>
                      <a:pt x="411634" y="0"/>
                      <a:pt x="558800" y="0"/>
                    </a:cubicBezTo>
                    <a:lnTo>
                      <a:pt x="558800" y="285081"/>
                    </a:lnTo>
                    <a:cubicBezTo>
                      <a:pt x="486712" y="285081"/>
                      <a:pt x="416225" y="314278"/>
                      <a:pt x="365251" y="365251"/>
                    </a:cubicBezTo>
                    <a:cubicBezTo>
                      <a:pt x="314278" y="416225"/>
                      <a:pt x="285081" y="486712"/>
                      <a:pt x="285081" y="558800"/>
                    </a:cubicBezTo>
                    <a:lnTo>
                      <a:pt x="0" y="558800"/>
                    </a:lnTo>
                    <a:close/>
                  </a:path>
                </a:pathLst>
              </a:custGeom>
              <a:solidFill>
                <a:srgbClr val="599DF7"/>
              </a:solidFill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127000" y="88900"/>
                <a:ext cx="304800" cy="3429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  <p:grpSp>
          <p:nvGrpSpPr>
            <p:cNvPr id="11" name="Group 11"/>
            <p:cNvGrpSpPr/>
            <p:nvPr/>
          </p:nvGrpSpPr>
          <p:grpSpPr>
            <a:xfrm>
              <a:off x="4885937" y="5867684"/>
              <a:ext cx="7278882" cy="955449"/>
              <a:chOff x="0" y="0"/>
              <a:chExt cx="2023523" cy="265614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2023523" cy="265614"/>
              </a:xfrm>
              <a:custGeom>
                <a:avLst/>
                <a:gdLst/>
                <a:ahLst/>
                <a:cxnLst/>
                <a:rect l="l" t="t" r="r" b="b"/>
                <a:pathLst>
                  <a:path w="2023523" h="265614">
                    <a:moveTo>
                      <a:pt x="0" y="0"/>
                    </a:moveTo>
                    <a:lnTo>
                      <a:pt x="2023523" y="0"/>
                    </a:lnTo>
                    <a:lnTo>
                      <a:pt x="2023523" y="265614"/>
                    </a:lnTo>
                    <a:lnTo>
                      <a:pt x="0" y="265614"/>
                    </a:lnTo>
                    <a:close/>
                  </a:path>
                </a:pathLst>
              </a:custGeom>
              <a:solidFill>
                <a:srgbClr val="599DF7"/>
              </a:solidFill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0" y="-38100"/>
                <a:ext cx="2023523" cy="30371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  <p:grpSp>
          <p:nvGrpSpPr>
            <p:cNvPr id="14" name="Group 14"/>
            <p:cNvGrpSpPr/>
            <p:nvPr/>
          </p:nvGrpSpPr>
          <p:grpSpPr>
            <a:xfrm rot="-5400000">
              <a:off x="3007672" y="4944867"/>
              <a:ext cx="1878266" cy="1878266"/>
              <a:chOff x="0" y="0"/>
              <a:chExt cx="558800" cy="558800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0" y="0"/>
                <a:ext cx="558800" cy="558800"/>
              </a:xfrm>
              <a:custGeom>
                <a:avLst/>
                <a:gdLst/>
                <a:ahLst/>
                <a:cxnLst/>
                <a:rect l="l" t="t" r="r" b="b"/>
                <a:pathLst>
                  <a:path w="558800" h="558800">
                    <a:moveTo>
                      <a:pt x="0" y="558800"/>
                    </a:moveTo>
                    <a:cubicBezTo>
                      <a:pt x="0" y="411634"/>
                      <a:pt x="59606" y="267731"/>
                      <a:pt x="163669" y="163669"/>
                    </a:cubicBezTo>
                    <a:cubicBezTo>
                      <a:pt x="267731" y="59606"/>
                      <a:pt x="411634" y="0"/>
                      <a:pt x="558800" y="0"/>
                    </a:cubicBezTo>
                    <a:lnTo>
                      <a:pt x="558800" y="285081"/>
                    </a:lnTo>
                    <a:cubicBezTo>
                      <a:pt x="486712" y="285081"/>
                      <a:pt x="416225" y="314278"/>
                      <a:pt x="365251" y="365251"/>
                    </a:cubicBezTo>
                    <a:cubicBezTo>
                      <a:pt x="314278" y="416225"/>
                      <a:pt x="285081" y="486712"/>
                      <a:pt x="285081" y="558800"/>
                    </a:cubicBezTo>
                    <a:lnTo>
                      <a:pt x="0" y="558800"/>
                    </a:lnTo>
                    <a:close/>
                  </a:path>
                </a:pathLst>
              </a:custGeom>
              <a:solidFill>
                <a:srgbClr val="599DF7"/>
              </a:solidFill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127000" y="88900"/>
                <a:ext cx="304800" cy="3429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  <p:grpSp>
          <p:nvGrpSpPr>
            <p:cNvPr id="17" name="Group 17"/>
            <p:cNvGrpSpPr/>
            <p:nvPr/>
          </p:nvGrpSpPr>
          <p:grpSpPr>
            <a:xfrm rot="-5400000">
              <a:off x="2717365" y="3252639"/>
              <a:ext cx="1528451" cy="1935409"/>
              <a:chOff x="0" y="0"/>
              <a:chExt cx="644117" cy="815617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0" y="0"/>
                <a:ext cx="644117" cy="815617"/>
              </a:xfrm>
              <a:custGeom>
                <a:avLst/>
                <a:gdLst/>
                <a:ahLst/>
                <a:cxnLst/>
                <a:rect l="l" t="t" r="r" b="b"/>
                <a:pathLst>
                  <a:path w="644117" h="815617">
                    <a:moveTo>
                      <a:pt x="644117" y="407808"/>
                    </a:moveTo>
                    <a:lnTo>
                      <a:pt x="237717" y="0"/>
                    </a:lnTo>
                    <a:lnTo>
                      <a:pt x="237717" y="203200"/>
                    </a:lnTo>
                    <a:lnTo>
                      <a:pt x="0" y="203200"/>
                    </a:lnTo>
                    <a:lnTo>
                      <a:pt x="0" y="612417"/>
                    </a:lnTo>
                    <a:lnTo>
                      <a:pt x="237717" y="612417"/>
                    </a:lnTo>
                    <a:lnTo>
                      <a:pt x="237717" y="815617"/>
                    </a:lnTo>
                    <a:lnTo>
                      <a:pt x="644117" y="407808"/>
                    </a:lnTo>
                    <a:close/>
                  </a:path>
                </a:pathLst>
              </a:custGeom>
              <a:solidFill>
                <a:srgbClr val="599DF7"/>
              </a:solidFill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0" y="165100"/>
                <a:ext cx="542517" cy="44731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20" name="Group 20"/>
            <p:cNvGrpSpPr/>
            <p:nvPr/>
          </p:nvGrpSpPr>
          <p:grpSpPr>
            <a:xfrm>
              <a:off x="13137567" y="3733828"/>
              <a:ext cx="905518" cy="1250742"/>
              <a:chOff x="0" y="0"/>
              <a:chExt cx="251733" cy="347705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0" y="0"/>
                <a:ext cx="251733" cy="347705"/>
              </a:xfrm>
              <a:custGeom>
                <a:avLst/>
                <a:gdLst/>
                <a:ahLst/>
                <a:cxnLst/>
                <a:rect l="l" t="t" r="r" b="b"/>
                <a:pathLst>
                  <a:path w="251733" h="347705">
                    <a:moveTo>
                      <a:pt x="0" y="0"/>
                    </a:moveTo>
                    <a:lnTo>
                      <a:pt x="251733" y="0"/>
                    </a:lnTo>
                    <a:lnTo>
                      <a:pt x="251733" y="347705"/>
                    </a:lnTo>
                    <a:lnTo>
                      <a:pt x="0" y="347705"/>
                    </a:lnTo>
                    <a:close/>
                  </a:path>
                </a:pathLst>
              </a:custGeom>
              <a:solidFill>
                <a:srgbClr val="599DF7"/>
              </a:solidFill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0" y="-38100"/>
                <a:ext cx="251733" cy="38580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</p:grpSp>
      <p:sp>
        <p:nvSpPr>
          <p:cNvPr id="23" name="TextBox 23"/>
          <p:cNvSpPr txBox="1"/>
          <p:nvPr/>
        </p:nvSpPr>
        <p:spPr>
          <a:xfrm>
            <a:off x="4150691" y="715278"/>
            <a:ext cx="9986618" cy="8554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346"/>
              </a:lnSpc>
            </a:pPr>
            <a:r>
              <a:rPr lang="en-US" sz="6520" b="1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Bayes’ Formula: Intuition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0107702" y="7548269"/>
            <a:ext cx="7399894" cy="21486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823"/>
              </a:lnSpc>
            </a:pPr>
            <a:r>
              <a:rPr lang="en-US" sz="415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Old Belief = Prior</a:t>
            </a:r>
          </a:p>
          <a:p>
            <a:pPr algn="ctr">
              <a:lnSpc>
                <a:spcPts val="5823"/>
              </a:lnSpc>
            </a:pPr>
            <a:r>
              <a:rPr lang="en-US" sz="415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Fact/Evidence = Likelihood</a:t>
            </a:r>
          </a:p>
          <a:p>
            <a:pPr algn="ctr">
              <a:lnSpc>
                <a:spcPts val="5823"/>
              </a:lnSpc>
              <a:spcBef>
                <a:spcPct val="0"/>
              </a:spcBef>
            </a:pPr>
            <a:r>
              <a:rPr lang="en-US" sz="415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New Belief = Posterior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1377297"/>
            <a:ext cx="14704614" cy="7022028"/>
          </a:xfrm>
          <a:custGeom>
            <a:avLst/>
            <a:gdLst/>
            <a:ahLst/>
            <a:cxnLst/>
            <a:rect l="l" t="t" r="r" b="b"/>
            <a:pathLst>
              <a:path w="14704614" h="7022028">
                <a:moveTo>
                  <a:pt x="0" y="0"/>
                </a:moveTo>
                <a:lnTo>
                  <a:pt x="14704614" y="0"/>
                </a:lnTo>
                <a:lnTo>
                  <a:pt x="14704614" y="7022027"/>
                </a:lnTo>
                <a:lnTo>
                  <a:pt x="0" y="702202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3881019" y="521854"/>
            <a:ext cx="10525962" cy="8554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346"/>
              </a:lnSpc>
            </a:pPr>
            <a:r>
              <a:rPr lang="en-US" sz="6520" b="1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Bayes’ Formula: The Math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10929842" y="5603175"/>
            <a:ext cx="6954277" cy="4403523"/>
            <a:chOff x="0" y="0"/>
            <a:chExt cx="9272370" cy="5871364"/>
          </a:xfrm>
        </p:grpSpPr>
        <p:grpSp>
          <p:nvGrpSpPr>
            <p:cNvPr id="5" name="Group 5"/>
            <p:cNvGrpSpPr/>
            <p:nvPr/>
          </p:nvGrpSpPr>
          <p:grpSpPr>
            <a:xfrm>
              <a:off x="0" y="0"/>
              <a:ext cx="9272370" cy="5871364"/>
              <a:chOff x="0" y="0"/>
              <a:chExt cx="1831579" cy="1159776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1831579" cy="1159776"/>
              </a:xfrm>
              <a:custGeom>
                <a:avLst/>
                <a:gdLst/>
                <a:ahLst/>
                <a:cxnLst/>
                <a:rect l="l" t="t" r="r" b="b"/>
                <a:pathLst>
                  <a:path w="1831579" h="1159776">
                    <a:moveTo>
                      <a:pt x="56776" y="0"/>
                    </a:moveTo>
                    <a:lnTo>
                      <a:pt x="1774803" y="0"/>
                    </a:lnTo>
                    <a:cubicBezTo>
                      <a:pt x="1806160" y="0"/>
                      <a:pt x="1831579" y="25420"/>
                      <a:pt x="1831579" y="56776"/>
                    </a:cubicBezTo>
                    <a:lnTo>
                      <a:pt x="1831579" y="1102999"/>
                    </a:lnTo>
                    <a:cubicBezTo>
                      <a:pt x="1831579" y="1134356"/>
                      <a:pt x="1806160" y="1159776"/>
                      <a:pt x="1774803" y="1159776"/>
                    </a:cubicBezTo>
                    <a:lnTo>
                      <a:pt x="56776" y="1159776"/>
                    </a:lnTo>
                    <a:cubicBezTo>
                      <a:pt x="25420" y="1159776"/>
                      <a:pt x="0" y="1134356"/>
                      <a:pt x="0" y="1102999"/>
                    </a:cubicBezTo>
                    <a:lnTo>
                      <a:pt x="0" y="56776"/>
                    </a:lnTo>
                    <a:cubicBezTo>
                      <a:pt x="0" y="25420"/>
                      <a:pt x="25420" y="0"/>
                      <a:pt x="56776" y="0"/>
                    </a:cubicBezTo>
                    <a:close/>
                  </a:path>
                </a:pathLst>
              </a:custGeom>
              <a:solidFill>
                <a:srgbClr val="599DF7"/>
              </a:solidFill>
            </p:spPr>
          </p:sp>
          <p:sp>
            <p:nvSpPr>
              <p:cNvPr id="7" name="TextBox 7"/>
              <p:cNvSpPr txBox="1"/>
              <p:nvPr/>
            </p:nvSpPr>
            <p:spPr>
              <a:xfrm>
                <a:off x="0" y="-38100"/>
                <a:ext cx="1831579" cy="119787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8" name="TextBox 8"/>
            <p:cNvSpPr txBox="1"/>
            <p:nvPr/>
          </p:nvSpPr>
          <p:spPr>
            <a:xfrm>
              <a:off x="137738" y="221893"/>
              <a:ext cx="8996894" cy="543523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084"/>
                </a:lnSpc>
              </a:pPr>
              <a:r>
                <a:rPr lang="en-US" sz="2917" b="1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We can consider the denominator term</a:t>
              </a:r>
            </a:p>
            <a:p>
              <a:pPr algn="ctr">
                <a:lnSpc>
                  <a:spcPts val="4084"/>
                </a:lnSpc>
                <a:spcBef>
                  <a:spcPct val="0"/>
                </a:spcBef>
              </a:pPr>
              <a:r>
                <a:rPr lang="en-US" sz="2917" b="1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to be a scaling factor and hence we can turn this equality into proportionality and thereby continue. Hence by doing this we ignore the marginal probability in the denominator.</a:t>
              </a: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2"/>
          <p:cNvGraphicFramePr>
            <a:graphicFrameLocks noGrp="1"/>
          </p:cNvGraphicFramePr>
          <p:nvPr/>
        </p:nvGraphicFramePr>
        <p:xfrm>
          <a:off x="9944100" y="3111361"/>
          <a:ext cx="7315200" cy="5600700"/>
        </p:xfrm>
        <a:graphic>
          <a:graphicData uri="http://schemas.openxmlformats.org/drawingml/2006/table">
            <a:tbl>
              <a:tblPr/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46600">
                <a:tc>
                  <a:txBody>
                    <a:bodyPr/>
                    <a:lstStyle/>
                    <a:p>
                      <a:pPr algn="ctr">
                        <a:lnSpc>
                          <a:spcPts val="3219"/>
                        </a:lnSpc>
                        <a:defRPr/>
                      </a:pPr>
                      <a:r>
                        <a:rPr lang="en-US" sz="2299" b="1">
                          <a:solidFill>
                            <a:srgbClr val="000000"/>
                          </a:solidFill>
                          <a:latin typeface="Helvetica World Bold"/>
                          <a:ea typeface="Helvetica World Bold"/>
                          <a:cs typeface="Helvetica World Bold"/>
                          <a:sym typeface="Helvetica World Bold"/>
                        </a:rPr>
                        <a:t>Prior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6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20"/>
                        </a:lnSpc>
                        <a:defRPr/>
                      </a:pPr>
                      <a:r>
                        <a:rPr lang="en-US" sz="2300" b="1">
                          <a:solidFill>
                            <a:srgbClr val="000000"/>
                          </a:solidFill>
                          <a:latin typeface="Helvetica World Bold"/>
                          <a:ea typeface="Helvetica World Bold"/>
                          <a:cs typeface="Helvetica World Bold"/>
                          <a:sym typeface="Helvetica World Bold"/>
                        </a:rPr>
                        <a:t>Likelihood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6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13525">
                <a:tc>
                  <a:txBody>
                    <a:bodyPr/>
                    <a:lstStyle/>
                    <a:p>
                      <a:pPr algn="ctr">
                        <a:lnSpc>
                          <a:spcPts val="3220"/>
                        </a:lnSpc>
                        <a:defRPr/>
                      </a:pPr>
                      <a:r>
                        <a:rPr lang="en-US" sz="2300">
                          <a:solidFill>
                            <a:srgbClr val="000000"/>
                          </a:solidFill>
                          <a:latin typeface="Helvetica World"/>
                          <a:ea typeface="Helvetica World"/>
                          <a:cs typeface="Helvetica World"/>
                          <a:sym typeface="Helvetica World"/>
                        </a:rPr>
                        <a:t>Gaussian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C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20"/>
                        </a:lnSpc>
                        <a:defRPr/>
                      </a:pPr>
                      <a:r>
                        <a:rPr lang="en-US" sz="2300">
                          <a:solidFill>
                            <a:srgbClr val="000000"/>
                          </a:solidFill>
                          <a:latin typeface="Helvetica World"/>
                          <a:ea typeface="Helvetica World"/>
                          <a:cs typeface="Helvetica World"/>
                          <a:sym typeface="Helvetica World"/>
                        </a:rPr>
                        <a:t>Gaussian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13525">
                <a:tc>
                  <a:txBody>
                    <a:bodyPr/>
                    <a:lstStyle/>
                    <a:p>
                      <a:pPr algn="ctr">
                        <a:lnSpc>
                          <a:spcPts val="3220"/>
                        </a:lnSpc>
                        <a:defRPr/>
                      </a:pPr>
                      <a:r>
                        <a:rPr lang="en-US" sz="2300">
                          <a:solidFill>
                            <a:srgbClr val="000000"/>
                          </a:solidFill>
                          <a:latin typeface="Helvetica World"/>
                          <a:ea typeface="Helvetica World"/>
                          <a:cs typeface="Helvetica World"/>
                          <a:sym typeface="Helvetica World"/>
                        </a:rPr>
                        <a:t>Beta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C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20"/>
                        </a:lnSpc>
                        <a:defRPr/>
                      </a:pPr>
                      <a:r>
                        <a:rPr lang="en-US" sz="2300">
                          <a:solidFill>
                            <a:srgbClr val="000000"/>
                          </a:solidFill>
                          <a:latin typeface="Helvetica World"/>
                          <a:ea typeface="Helvetica World"/>
                          <a:cs typeface="Helvetica World"/>
                          <a:sym typeface="Helvetica World"/>
                        </a:rPr>
                        <a:t>Binomial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13525">
                <a:tc>
                  <a:txBody>
                    <a:bodyPr/>
                    <a:lstStyle/>
                    <a:p>
                      <a:pPr algn="ctr">
                        <a:lnSpc>
                          <a:spcPts val="3220"/>
                        </a:lnSpc>
                        <a:defRPr/>
                      </a:pPr>
                      <a:r>
                        <a:rPr lang="en-US" sz="2300">
                          <a:solidFill>
                            <a:srgbClr val="000000"/>
                          </a:solidFill>
                          <a:latin typeface="Helvetica World"/>
                          <a:ea typeface="Helvetica World"/>
                          <a:cs typeface="Helvetica World"/>
                          <a:sym typeface="Helvetica World"/>
                        </a:rPr>
                        <a:t>Gamma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C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20"/>
                        </a:lnSpc>
                        <a:defRPr/>
                      </a:pPr>
                      <a:r>
                        <a:rPr lang="en-US" sz="2300">
                          <a:solidFill>
                            <a:srgbClr val="000000"/>
                          </a:solidFill>
                          <a:latin typeface="Helvetica World"/>
                          <a:ea typeface="Helvetica World"/>
                          <a:cs typeface="Helvetica World"/>
                          <a:sym typeface="Helvetica World"/>
                        </a:rPr>
                        <a:t>Gaussian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13525">
                <a:tc>
                  <a:txBody>
                    <a:bodyPr/>
                    <a:lstStyle/>
                    <a:p>
                      <a:pPr algn="ctr">
                        <a:lnSpc>
                          <a:spcPts val="3220"/>
                        </a:lnSpc>
                        <a:defRPr/>
                      </a:pPr>
                      <a:r>
                        <a:rPr lang="en-US" sz="2300">
                          <a:solidFill>
                            <a:srgbClr val="000000"/>
                          </a:solidFill>
                          <a:latin typeface="Helvetica World"/>
                          <a:ea typeface="Helvetica World"/>
                          <a:cs typeface="Helvetica World"/>
                          <a:sym typeface="Helvetica World"/>
                        </a:rPr>
                        <a:t>Dirichlet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C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20"/>
                        </a:lnSpc>
                        <a:defRPr/>
                      </a:pPr>
                      <a:r>
                        <a:rPr lang="en-US" sz="2300">
                          <a:solidFill>
                            <a:srgbClr val="000000"/>
                          </a:solidFill>
                          <a:latin typeface="Helvetica World"/>
                          <a:ea typeface="Helvetica World"/>
                          <a:cs typeface="Helvetica World"/>
                          <a:sym typeface="Helvetica World"/>
                        </a:rPr>
                        <a:t>Multinomial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" name="TextBox 3"/>
          <p:cNvSpPr txBox="1"/>
          <p:nvPr/>
        </p:nvSpPr>
        <p:spPr>
          <a:xfrm>
            <a:off x="5677175" y="715278"/>
            <a:ext cx="6707077" cy="8554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346"/>
              </a:lnSpc>
            </a:pPr>
            <a:r>
              <a:rPr lang="en-US" sz="6520" b="1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Conjugate Priors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8700" y="4006695"/>
            <a:ext cx="8002013" cy="3794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 b="1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A prior distribution is said to be conjugate to a likelihood function if the resulting posterior belongs to the same distribution as that of prior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799551" y="715278"/>
            <a:ext cx="4688897" cy="8554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346"/>
              </a:lnSpc>
            </a:pPr>
            <a:r>
              <a:rPr lang="en-US" sz="6520" b="1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References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605998" y="2314755"/>
            <a:ext cx="17076004" cy="688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066CF4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https://www.statlect.com/fundamentals-of-statistics/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05998" y="3223973"/>
            <a:ext cx="17076004" cy="688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 First Course in Machine Learning by Simon Rogers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05998" y="4132023"/>
            <a:ext cx="17076004" cy="688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Course LMS Slides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539</Words>
  <Application>Microsoft Office PowerPoint</Application>
  <PresentationFormat>Custom</PresentationFormat>
  <Paragraphs>59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5" baseType="lpstr">
      <vt:lpstr>Arial</vt:lpstr>
      <vt:lpstr>Nunito Bold</vt:lpstr>
      <vt:lpstr>Helvetica World</vt:lpstr>
      <vt:lpstr>Nunito</vt:lpstr>
      <vt:lpstr>Hammersmith One</vt:lpstr>
      <vt:lpstr>Calibri</vt:lpstr>
      <vt:lpstr>Canva Sans Bold</vt:lpstr>
      <vt:lpstr>Helvetica World Bold</vt:lpstr>
      <vt:lpstr>Clear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ML - Likelihood, Bayesian Approach</dc:title>
  <cp:lastModifiedBy>Sriram Srikanth</cp:lastModifiedBy>
  <cp:revision>2</cp:revision>
  <dcterms:created xsi:type="dcterms:W3CDTF">2006-08-16T00:00:00Z</dcterms:created>
  <dcterms:modified xsi:type="dcterms:W3CDTF">2026-09-08T17:47:44Z</dcterms:modified>
  <dc:identifier>DAHUBjc7P8c</dc:identifier>
</cp:coreProperties>
</file>