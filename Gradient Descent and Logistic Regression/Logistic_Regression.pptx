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978"/>
                </a:solidFill>
              </a:defRPr>
            </a:pPr>
            <a:r>
              <a:t>From linear scores → probabilities → Binary Cross-Entropy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64BE"/>
                </a:solidFill>
              </a:defRPr>
            </a:pPr>
            <a:r>
              <a:t>The main idea: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0">
                <a:solidFill>
                  <a:srgbClr val="192332"/>
                </a:solidFill>
              </a:defRPr>
            </a:pPr>
            <a:r>
              <a:t>We want a model that predicts a probability between 0 and 1 for a binary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8C64"/>
                </a:solidFill>
              </a:defRPr>
            </a:pPr>
            <a:r>
              <a:t>Example:  P(y = 1 | x) = 0.82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Start with a Linear Combination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2D64BE"/>
                </a:solidFill>
              </a:defRPr>
            </a:pPr>
            <a:r>
              <a:t>z = w₀ + w₁x₁ + w₂x₂ + ··· + wₙxₙ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>
                <a:solidFill>
                  <a:srgbClr val="192332"/>
                </a:solidFill>
              </a:defRPr>
            </a:pPr>
            <a:r>
              <a:t>This is exactly like a linear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A6978"/>
                </a:solidFill>
              </a:defRPr>
            </a:pPr>
            <a:r>
              <a:t>Problem: z can be any value (−∞ to +∞).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92332"/>
                </a:solidFill>
              </a:defRPr>
            </a:pPr>
            <a:r>
              <a:t>But a probability must lie between 0 and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So what should the linear score represent?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D64BE"/>
                </a:solidFill>
              </a:defRPr>
            </a:pPr>
            <a:r>
              <a:t>log( p / (1 − p) ) =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92332"/>
                </a:solidFill>
              </a:defRPr>
            </a:pPr>
            <a:r>
              <a:t>Instead of making z the probability, we make z the LOG-ODDS.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D64BE"/>
                </a:solidFill>
              </a:defRPr>
            </a:pPr>
            <a:r>
              <a:t>Odds = p / (1 − 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5A6978"/>
                </a:solidFill>
              </a:defRPr>
            </a:pPr>
            <a:r>
              <a:t>Taking log lets the quantity range from −∞ to +∞, just like 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Convert log-odds back to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D64BE"/>
                </a:solidFill>
              </a:defRPr>
            </a:pPr>
            <a:r>
              <a:t>p = 1 / (1 + e⁻ᶻ)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92332"/>
                </a:solidFill>
              </a:defRPr>
            </a:pPr>
            <a:r>
              <a:t>This is the sigmoid function.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>
                <a:solidFill>
                  <a:srgbClr val="5A6978"/>
                </a:solidFill>
              </a:defRPr>
            </a:pPr>
            <a:r>
              <a:t>It takes any real-valued z and maps it to (0, 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38C64"/>
                </a:solidFill>
              </a:defRPr>
            </a:pPr>
            <a:r>
              <a:t>Therefore:  linear model → sigmoid → probability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Now: How do we train the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92332"/>
                </a:solidFill>
              </a:defRPr>
            </a:pPr>
            <a:r>
              <a:t>For one example, the model predicts p = P(y = 1 | x).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D64BE"/>
                </a:solidFill>
              </a:defRPr>
            </a:pPr>
            <a:r>
              <a:t>P(y | x) = pʸ (1 − p)¹⁻ʸ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238C64"/>
                </a:solidFill>
              </a:defRPr>
            </a:pPr>
            <a:r>
              <a:t>If y = 1 → likelihood =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657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2D64BE"/>
                </a:solidFill>
              </a:defRPr>
            </a:pPr>
            <a:r>
              <a:t>If y = 0 → likelihood = 1 − 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A6978"/>
                </a:solidFill>
              </a:defRPr>
            </a:pPr>
            <a:r>
              <a:t>So the likelihood gives high value when the model assigns high probability to the correct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Maximum Likelihood → Log-Likelihood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92332"/>
                </a:solidFill>
              </a:defRPr>
            </a:pPr>
            <a:r>
              <a:t>For N independent training examples, multiply their likelihoods: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D64BE"/>
                </a:solidFill>
              </a:defRPr>
            </a:pPr>
            <a:r>
              <a:t>L = ∏ᵢ pᵢʸⁱ (1 − pᵢ)¹⁻ʸⁱ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A6978"/>
                </a:solidFill>
              </a:defRPr>
            </a:pPr>
            <a:r>
              <a:t>Products are inconvenient, so take log. Maximizing log(L) gives the same optimum.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64BE"/>
                </a:solidFill>
              </a:defRPr>
            </a:pPr>
            <a:r>
              <a:t>log L = Σᵢ [ yᵢ log(pᵢ) + (1−yᵢ) log(1−pᵢ)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And this is exactly where BCE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92332"/>
                </a:solidFill>
              </a:defRPr>
            </a:pPr>
            <a:r>
              <a:t>Training usually MINIMIZES a loss, so we take the negative log-likelihood: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2316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D64BE"/>
                </a:solidFill>
              </a:defRPr>
            </a:pPr>
            <a:r>
              <a:t>Loss = − Σᵢ [ yᵢ log(pᵢ) + (1−yᵢ) log(1−pᵢ)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38C64"/>
                </a:solidFill>
              </a:defRPr>
            </a:pPr>
            <a:r>
              <a:t>Divide by N → Binary Cross-Entropy (BCE)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64BE"/>
                </a:solidFill>
              </a:defRPr>
            </a:pPr>
            <a:r>
              <a:t>BCE = −(1/N) Σᵢ [ yᵢ log(pᵢ) + (1−yᵢ) log(1−pᵢ)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The whole story in one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92332"/>
                </a:solidFill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92332"/>
                </a:solidFill>
              </a:defRPr>
            </a:pPr>
            <a:r>
              <a:t>Linear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92332"/>
                </a:solidFill>
              </a:defRPr>
            </a:pPr>
            <a:r>
              <a:t>Sigmoid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92332"/>
                </a:solidFill>
              </a:defRPr>
            </a:pPr>
            <a:r>
              <a:t>Probability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1031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38C64"/>
                </a:solidFill>
              </a:defRPr>
            </a:pPr>
            <a:r>
              <a:t>BCE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D64BE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D64BE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D64BE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D64BE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D64BE"/>
                </a:solidFill>
              </a:defRPr>
            </a:pPr>
            <a:r>
              <a:t>z = wᵀx +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D64BE"/>
                </a:solidFill>
              </a:defRPr>
            </a:pPr>
            <a:r>
              <a:t>p = σ(z) = 1/(1+e⁻ᶻ)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92332"/>
                </a:solidFill>
              </a:defRPr>
            </a:pPr>
            <a:r>
              <a:t>Choose w and b that minimize BCE  ⇔  maximize likelihood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One simple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92332"/>
                </a:solidFill>
              </a:defRPr>
            </a:pPr>
            <a:r>
              <a:t>Suppose the true label is y =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38C64"/>
                </a:solidFill>
              </a:defRPr>
            </a:pPr>
            <a:r>
              <a:t>Prediction p = 0.95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92332"/>
                </a:solidFill>
              </a:defRPr>
            </a:pPr>
            <a:r>
              <a:t>→ low BCE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468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D64BE"/>
                </a:solidFill>
              </a:defRPr>
            </a:pPr>
            <a:r>
              <a:t>Prediction p = 0.05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108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92332"/>
                </a:solidFill>
              </a:defRPr>
            </a:pPr>
            <a:r>
              <a:t>→ very high BCE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92332"/>
                </a:solidFill>
              </a:defRPr>
            </a:pPr>
            <a:r>
              <a:t>BCE strongly penalizes being confidently wrong.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332"/>
                </a:solidFill>
              </a:defRPr>
            </a:pPr>
            <a:r>
              <a:t>Logistic Regression — 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92332"/>
                </a:solidFill>
              </a:defRPr>
            </a:pPr>
            <a:r>
              <a:t>1. Build a linear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D64BE"/>
                </a:solidFill>
              </a:defRPr>
            </a:pPr>
            <a:r>
              <a:t>z = wᵀx +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92332"/>
                </a:solidFill>
              </a:defRPr>
            </a:pPr>
            <a:r>
              <a:t>2. Interpret it as log-odds and convert it to probability with sigmoid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92332"/>
                </a:solidFill>
              </a:defRPr>
            </a:pPr>
            <a:r>
              <a:t>3. Maximum likelihood gives the log-likelihood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92332"/>
                </a:solidFill>
              </a:defRPr>
            </a:pPr>
            <a:r>
              <a:t>4. Negating it gives the loss we minimize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38C64"/>
                </a:solidFill>
              </a:defRPr>
            </a:pPr>
            <a:r>
              <a:t>→ Binary Cross-Entropy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